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media/hdphoto1.wdp" ContentType="image/vnd.ms-photo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4.xml.rels" ContentType="application/vnd.openxmlformats-package.relationships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4ECD587-FED0-45C1-A4B2-989EE9E9419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7D2020-6A9E-4BC7-A852-118FD8BB4E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AB9F66-4B46-46BA-9A55-E44C40F5E5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645545-1830-4F41-8CEF-CAFCDE1A28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F2B92B6-8D5A-4397-8F2D-C61DE53982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B48EB20-BE94-4D4F-97DB-7F41EE8245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B82FE88-86D3-4990-86C3-0894647B67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91F7A65-AA12-492C-B3EE-4F37329439F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C6A0B1D-3C8E-4752-81A5-8AD3DA6D45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BB0CF36-F8FC-4100-B92A-8D93B504A3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62E8A5C-19D3-485F-BCD6-A6A4A0BB6B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4A5FF7A1-5DC1-474E-9C6A-B6A210451A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46F8BA3-B56C-4775-A3A8-9F490225D4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327460-A9E4-4C7A-BC55-5E9A57DC0546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5A6F74-2E44-412A-9E86-7259C3D6D445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132A87-63DD-4343-8ED0-FCF5F1173AFE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F4822C-8BF0-4731-AFEA-5D21D62F4D29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382114-184F-4D5A-ADED-4383B630D136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741BED-10F7-4EAF-9663-14F2D2308A46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8997CD-81D4-4386-8F64-47735396BFB2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9CA55D-7CB5-4502-BD17-FBB8DBE77A2D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F0DA96-336B-4EEC-A8DC-9E7B38A9F521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14FF71-6CB6-4715-B8CF-71FA3EF12CF0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icon to add picture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F21506-27F1-4D62-AAD7-DDAD6B7F63B9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microsoft.com/office/2007/relationships/hdphoto" Target="../media/hdphoto1.wdp"/><Relationship Id="rId3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 useBgFill="1">
        <p:nvSpPr>
          <p:cNvPr id="75" name="Freeform: 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4560" y="0"/>
            <a:ext cx="9962640" cy="6857640"/>
          </a:xfrm>
          <a:custGeom>
            <a:avLst/>
            <a:gdLst>
              <a:gd name="textAreaLeft" fmla="*/ 0 w 9962640"/>
              <a:gd name="textAreaRight" fmla="*/ 9963000 w 996264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algn="ctr" blurRad="139680" rotWithShape="0" sx="102000" sy="10200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 useBgFill="1">
        <p:nvSpPr>
          <p:cNvPr id="76" name="Freeform: 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1760" y="0"/>
            <a:ext cx="9948240" cy="6857640"/>
          </a:xfrm>
          <a:custGeom>
            <a:avLst/>
            <a:gdLst>
              <a:gd name="textAreaLeft" fmla="*/ 0 w 9948240"/>
              <a:gd name="textAreaRight" fmla="*/ 9948600 w 994824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999440"/>
            <a:ext cx="9143640" cy="276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651" lnSpcReduction="10000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5600" spc="-1" strike="noStrike">
                <a:solidFill>
                  <a:schemeClr val="dk1"/>
                </a:solidFill>
                <a:latin typeface="Aptos Display"/>
              </a:rPr>
              <a:t>Multi-algorithmic approaches to mono and polyphonic pitch detection / estimation</a:t>
            </a:r>
            <a:endParaRPr b="0" lang="en-US" sz="5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1691280" y="5115240"/>
            <a:ext cx="880200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Joseph Lincoln, Dr. Mangolika Bhattacharya, Dr. Roy Magnuson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18440" y="5524920"/>
            <a:ext cx="4754520" cy="2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2198160" y="5571000"/>
            <a:ext cx="78066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Aptos"/>
              </a:rPr>
              <a:t>~ Acknowledgements to the Illinois State University Schools of Information Technology and Music for their support and funding of necessary materials and printing costs ~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236440" y="131400"/>
            <a:ext cx="3526920" cy="101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7285"/>
          </a:bodyPr>
          <a:p>
            <a:pPr indent="0" algn="r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Y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N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A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p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p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a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o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n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s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i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n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g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a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n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d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R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e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s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u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l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t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s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3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76000"/>
            <a:ext cx="5040360" cy="601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5480" bIns="154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4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643760" y="3396960"/>
            <a:ext cx="6857640" cy="637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pic>
        <p:nvPicPr>
          <p:cNvPr id="85" name="Picture 5" descr=""/>
          <p:cNvPicPr/>
          <p:nvPr/>
        </p:nvPicPr>
        <p:blipFill>
          <a:blip r:embed="rId1"/>
          <a:srcRect l="-56" t="0" r="-56" b="2856"/>
          <a:stretch/>
        </p:blipFill>
        <p:spPr>
          <a:xfrm>
            <a:off x="-2160" y="1713960"/>
            <a:ext cx="5113440" cy="900000"/>
          </a:xfrm>
          <a:prstGeom prst="rect">
            <a:avLst/>
          </a:prstGeom>
          <a:ln w="0">
            <a:noFill/>
          </a:ln>
        </p:spPr>
      </p:pic>
      <p:pic>
        <p:nvPicPr>
          <p:cNvPr id="86" name="Picture 6" descr=""/>
          <p:cNvPicPr/>
          <p:nvPr/>
        </p:nvPicPr>
        <p:blipFill>
          <a:blip r:embed="rId2"/>
          <a:srcRect l="-35" t="261" r="147" b="3779"/>
          <a:stretch/>
        </p:blipFill>
        <p:spPr>
          <a:xfrm>
            <a:off x="-2160" y="3729600"/>
            <a:ext cx="5113440" cy="900720"/>
          </a:xfrm>
          <a:prstGeom prst="rect">
            <a:avLst/>
          </a:prstGeom>
          <a:ln w="0">
            <a:noFill/>
          </a:ln>
        </p:spPr>
      </p:pic>
      <p:sp>
        <p:nvSpPr>
          <p:cNvPr id="87" name="Rectangl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13960"/>
            <a:ext cx="5040360" cy="601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5480" bIns="154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pic>
        <p:nvPicPr>
          <p:cNvPr id="88" name="Picture 4" descr=""/>
          <p:cNvPicPr/>
          <p:nvPr/>
        </p:nvPicPr>
        <p:blipFill>
          <a:blip r:embed="rId3"/>
          <a:stretch/>
        </p:blipFill>
        <p:spPr>
          <a:xfrm>
            <a:off x="5680080" y="1710720"/>
            <a:ext cx="5113440" cy="900360"/>
          </a:xfrm>
          <a:prstGeom prst="rect">
            <a:avLst/>
          </a:prstGeom>
          <a:ln w="0">
            <a:noFill/>
          </a:ln>
        </p:spPr>
      </p:pic>
      <p:sp>
        <p:nvSpPr>
          <p:cNvPr id="89" name="Rectangl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536320" y="3396960"/>
            <a:ext cx="6857640" cy="637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5679360" y="1344240"/>
            <a:ext cx="512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Controlled Test Suite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-2880" y="1344240"/>
            <a:ext cx="5049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Controlled Test Suite x10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7"/>
          <p:cNvSpPr/>
          <p:nvPr/>
        </p:nvSpPr>
        <p:spPr>
          <a:xfrm>
            <a:off x="-2880" y="3361680"/>
            <a:ext cx="5049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Controlled </a:t>
            </a:r>
            <a:r>
              <a:rPr b="1" lang="en-US" sz="1800" spc="-1" strike="noStrike">
                <a:solidFill>
                  <a:schemeClr val="dk1"/>
                </a:solidFill>
                <a:latin typeface="Aptos"/>
              </a:rPr>
              <a:t>+ Randomized</a:t>
            </a: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 Test Suite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Picture 8" descr=""/>
          <p:cNvPicPr/>
          <p:nvPr/>
        </p:nvPicPr>
        <p:blipFill>
          <a:blip r:embed="rId4"/>
          <a:srcRect l="0" t="36855" r="480" b="21163"/>
          <a:stretch/>
        </p:blipFill>
        <p:spPr>
          <a:xfrm>
            <a:off x="5688000" y="3147840"/>
            <a:ext cx="5111280" cy="3408480"/>
          </a:xfrm>
          <a:prstGeom prst="rect">
            <a:avLst/>
          </a:prstGeom>
          <a:ln w="0">
            <a:noFill/>
          </a:ln>
        </p:spPr>
      </p:pic>
      <p:sp>
        <p:nvSpPr>
          <p:cNvPr id="94" name="TextBox 9"/>
          <p:cNvSpPr/>
          <p:nvPr/>
        </p:nvSpPr>
        <p:spPr>
          <a:xfrm>
            <a:off x="5686560" y="2781000"/>
            <a:ext cx="511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Controlled Test Suite Conditions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5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90960" y="1093320"/>
            <a:ext cx="3935880" cy="32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700" spc="-1" strike="noStrike">
                <a:solidFill>
                  <a:schemeClr val="dk1"/>
                </a:solidFill>
                <a:latin typeface="Aptos Display"/>
              </a:rPr>
              <a:t>Spotify's Basic-Pitch Convolutional Neural Network Against Bach10, Quartet</a:t>
            </a:r>
            <a:endParaRPr b="0" lang="en-US" sz="37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390960" y="4785840"/>
            <a:ext cx="3935880" cy="120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External Baseline of Comparison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!!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60320" y="346320"/>
            <a:ext cx="145800" cy="70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9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960" y="4546800"/>
            <a:ext cx="402300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00" name="Picture 3" descr=""/>
          <p:cNvPicPr/>
          <p:nvPr/>
        </p:nvPicPr>
        <p:blipFill>
          <a:blip r:embed="rId1"/>
          <a:srcRect l="-73" t="528" r="19676" b="4243"/>
          <a:stretch/>
        </p:blipFill>
        <p:spPr>
          <a:xfrm>
            <a:off x="4326840" y="3600"/>
            <a:ext cx="7863120" cy="685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457200" y="201240"/>
            <a:ext cx="1127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00000"/>
                </a:solidFill>
                <a:latin typeface="Aptos"/>
              </a:rPr>
              <a:t>How NMF reads a chord:  V ≈ W · H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457200" y="841320"/>
            <a:ext cx="112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chemeClr val="lt2">
                    <a:lumMod val="25000"/>
                  </a:schemeClr>
                </a:solidFill>
                <a:latin typeface="Aptos"/>
              </a:rPr>
              <a:t>one spectrogram frame, explained as a combination of harmonic templates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459360" y="1257840"/>
            <a:ext cx="456840" cy="456840"/>
          </a:xfrm>
          <a:prstGeom prst="ellipse">
            <a:avLst/>
          </a:prstGeom>
          <a:solidFill>
            <a:srgbClr val="7a1f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Aptos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942840" y="129960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7a1f1f"/>
                </a:solidFill>
                <a:latin typeface="Aptos"/>
              </a:rPr>
              <a:t>What we hear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Image 0" descr="/mnt/user-data/outputs/wnmf_2_V.png"/>
          <p:cNvPicPr/>
          <p:nvPr/>
        </p:nvPicPr>
        <p:blipFill>
          <a:blip r:embed="rId1"/>
          <a:stretch/>
        </p:blipFill>
        <p:spPr>
          <a:xfrm>
            <a:off x="458640" y="1711800"/>
            <a:ext cx="2057040" cy="3794400"/>
          </a:xfrm>
          <a:prstGeom prst="rect">
            <a:avLst/>
          </a:prstGeom>
          <a:ln w="0">
            <a:noFill/>
          </a:ln>
        </p:spPr>
      </p:pic>
      <p:sp>
        <p:nvSpPr>
          <p:cNvPr id="106" name="Text 4"/>
          <p:cNvSpPr/>
          <p:nvPr/>
        </p:nvSpPr>
        <p:spPr>
          <a:xfrm>
            <a:off x="326520" y="551124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2">
                    <a:lumMod val="25000"/>
                  </a:schemeClr>
                </a:solidFill>
                <a:latin typeface="Aptos"/>
              </a:rPr>
              <a:t>V — the observed spectrum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3189600" y="1279440"/>
            <a:ext cx="456840" cy="456840"/>
          </a:xfrm>
          <a:prstGeom prst="ellipse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Aptos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3665520" y="127800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2"/>
                </a:solidFill>
                <a:latin typeface="Aptos"/>
              </a:rPr>
              <a:t>What each note looks like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Image 1" descr="/mnt/user-data/outputs/wnmf_W_fitted.png"/>
          <p:cNvPicPr/>
          <p:nvPr/>
        </p:nvPicPr>
        <p:blipFill>
          <a:blip r:embed="rId2"/>
          <a:stretch/>
        </p:blipFill>
        <p:spPr>
          <a:xfrm>
            <a:off x="3643200" y="1690200"/>
            <a:ext cx="7772040" cy="2486880"/>
          </a:xfrm>
          <a:prstGeom prst="rect">
            <a:avLst/>
          </a:prstGeom>
          <a:ln w="0">
            <a:noFill/>
          </a:ln>
        </p:spPr>
      </p:pic>
      <p:sp>
        <p:nvSpPr>
          <p:cNvPr id="110" name="Text 7"/>
          <p:cNvSpPr/>
          <p:nvPr/>
        </p:nvSpPr>
        <p:spPr>
          <a:xfrm>
            <a:off x="3664800" y="406296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chemeClr val="lt2">
                    <a:lumMod val="25000"/>
                  </a:schemeClr>
                </a:solidFill>
                <a:latin typeface="Aptos"/>
              </a:rPr>
              <a:t>W — dictionary: one harmonic template per pitch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3182400" y="4182120"/>
            <a:ext cx="456840" cy="456840"/>
          </a:xfrm>
          <a:prstGeom prst="ellipse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Aptos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9"/>
          <p:cNvSpPr/>
          <p:nvPr/>
        </p:nvSpPr>
        <p:spPr>
          <a:xfrm>
            <a:off x="3643920" y="4224240"/>
            <a:ext cx="5028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chemeClr val="accent1"/>
                </a:solidFill>
                <a:latin typeface="Aptos"/>
              </a:rPr>
              <a:t>What NMF recovers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Image 2" descr="/mnt/user-data/outputs/wnmf_H_fitted.png"/>
          <p:cNvPicPr/>
          <p:nvPr/>
        </p:nvPicPr>
        <p:blipFill>
          <a:blip r:embed="rId3"/>
          <a:stretch/>
        </p:blipFill>
        <p:spPr>
          <a:xfrm>
            <a:off x="3411000" y="4668480"/>
            <a:ext cx="7772040" cy="1672920"/>
          </a:xfrm>
          <a:prstGeom prst="rect">
            <a:avLst/>
          </a:prstGeom>
          <a:ln w="0">
            <a:noFill/>
          </a:ln>
        </p:spPr>
      </p:pic>
      <p:sp>
        <p:nvSpPr>
          <p:cNvPr id="114" name="Text 10"/>
          <p:cNvSpPr/>
          <p:nvPr/>
        </p:nvSpPr>
        <p:spPr>
          <a:xfrm>
            <a:off x="3636000" y="63450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chemeClr val="lt2">
                    <a:lumMod val="25000"/>
                  </a:schemeClr>
                </a:solidFill>
                <a:latin typeface="Aptos"/>
              </a:rPr>
              <a:t>H — pitches present:</a:t>
            </a:r>
            <a:r>
              <a:rPr b="0" lang="en-US" sz="1300" spc="-1" strike="noStrike">
                <a:solidFill>
                  <a:srgbClr val="595959"/>
                </a:solidFill>
                <a:latin typeface="Aptos"/>
              </a:rPr>
              <a:t> </a:t>
            </a:r>
            <a:r>
              <a:rPr b="0" lang="en-US" sz="1300" spc="-1" strike="noStrike">
                <a:solidFill>
                  <a:schemeClr val="accent1"/>
                </a:solidFill>
                <a:latin typeface="Aptos"/>
              </a:rPr>
              <a:t> </a:t>
            </a:r>
            <a:r>
              <a:rPr b="1" lang="en-US" sz="1300" spc="-1" strike="noStrike">
                <a:solidFill>
                  <a:schemeClr val="accent1"/>
                </a:solidFill>
                <a:latin typeface="Aptos"/>
              </a:rPr>
              <a:t>C3 + E3 + G3  →  C major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5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6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35760" cy="6871320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7" name="Picture 3"/>
          <p:cNvSpPr/>
          <p:nvPr/>
        </p:nvSpPr>
        <p:spPr>
          <a:xfrm>
            <a:off x="2915280" y="0"/>
            <a:ext cx="9276120" cy="6857640"/>
          </a:xfrm>
          <a:custGeom>
            <a:avLst/>
            <a:gdLst>
              <a:gd name="textAreaLeft" fmla="*/ 0 w 9276120"/>
              <a:gd name="textAreaRight" fmla="*/ 9276480 w 927612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49920" y="4195080"/>
            <a:ext cx="3633120" cy="232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6604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Aptos Display"/>
              </a:rPr>
              <a:t>Frame- / Proxy-Level, Internal Baseline of Comparison</a:t>
            </a:r>
            <a:endParaRPr b="0" lang="en-US" sz="4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63440" y="147240"/>
            <a:ext cx="6734160" cy="65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79329"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Frame- / Proxy-Level Evaluation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160560" y="722880"/>
            <a:ext cx="3152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60 iterations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Picture 4" descr=""/>
          <p:cNvPicPr/>
          <p:nvPr/>
        </p:nvPicPr>
        <p:blipFill>
          <a:blip r:embed="rId1"/>
          <a:srcRect l="-19" t="102" r="-255" b="97639"/>
          <a:stretch/>
        </p:blipFill>
        <p:spPr>
          <a:xfrm>
            <a:off x="252360" y="1093320"/>
            <a:ext cx="8438400" cy="152280"/>
          </a:xfrm>
          <a:prstGeom prst="rect">
            <a:avLst/>
          </a:prstGeom>
          <a:ln w="0">
            <a:noFill/>
          </a:ln>
        </p:spPr>
      </p:pic>
      <p:pic>
        <p:nvPicPr>
          <p:cNvPr id="122" name="Picture 5" descr=""/>
          <p:cNvPicPr/>
          <p:nvPr/>
        </p:nvPicPr>
        <p:blipFill>
          <a:blip r:embed="rId2"/>
          <a:srcRect l="0" t="48703" r="-155" b="9026"/>
          <a:stretch/>
        </p:blipFill>
        <p:spPr>
          <a:xfrm>
            <a:off x="254160" y="1246320"/>
            <a:ext cx="8439480" cy="2281680"/>
          </a:xfrm>
          <a:prstGeom prst="rect">
            <a:avLst/>
          </a:prstGeom>
          <a:ln w="0">
            <a:noFill/>
          </a:ln>
        </p:spPr>
      </p:pic>
      <p:sp>
        <p:nvSpPr>
          <p:cNvPr id="123" name="TextBox 6"/>
          <p:cNvSpPr/>
          <p:nvPr/>
        </p:nvSpPr>
        <p:spPr>
          <a:xfrm>
            <a:off x="160560" y="3618360"/>
            <a:ext cx="3152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300 iterations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Picture 7" descr=""/>
          <p:cNvPicPr/>
          <p:nvPr/>
        </p:nvPicPr>
        <p:blipFill>
          <a:blip r:embed="rId3"/>
          <a:srcRect l="0" t="0" r="72" b="97615"/>
          <a:stretch/>
        </p:blipFill>
        <p:spPr>
          <a:xfrm>
            <a:off x="252000" y="3991320"/>
            <a:ext cx="8443440" cy="162360"/>
          </a:xfrm>
          <a:prstGeom prst="rect">
            <a:avLst/>
          </a:prstGeom>
          <a:ln w="0">
            <a:noFill/>
          </a:ln>
        </p:spPr>
      </p:pic>
      <p:pic>
        <p:nvPicPr>
          <p:cNvPr id="125" name="Picture 8" descr=""/>
          <p:cNvPicPr/>
          <p:nvPr/>
        </p:nvPicPr>
        <p:blipFill>
          <a:blip r:embed="rId4"/>
          <a:srcRect l="0" t="48883" r="72" b="8888"/>
          <a:stretch/>
        </p:blipFill>
        <p:spPr>
          <a:xfrm>
            <a:off x="252000" y="4151160"/>
            <a:ext cx="8443440" cy="2358360"/>
          </a:xfrm>
          <a:prstGeom prst="rect">
            <a:avLst/>
          </a:prstGeom>
          <a:ln w="0">
            <a:noFill/>
          </a:ln>
        </p:spPr>
      </p:pic>
      <p:sp>
        <p:nvSpPr>
          <p:cNvPr id="126" name="TextBox 9"/>
          <p:cNvSpPr/>
          <p:nvPr/>
        </p:nvSpPr>
        <p:spPr>
          <a:xfrm>
            <a:off x="8758440" y="2042640"/>
            <a:ext cx="3302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US" sz="1800" spc="-1" strike="noStrike">
                <a:solidFill>
                  <a:schemeClr val="dk1"/>
                </a:solidFill>
                <a:latin typeface="Aptos"/>
              </a:rPr>
              <a:t>both 60 iterations </a:t>
            </a:r>
            <a:r>
              <a:rPr b="0" i="1" lang="en-US" sz="1800" spc="-1" strike="noStrike" u="sng">
                <a:solidFill>
                  <a:schemeClr val="dk1"/>
                </a:solidFill>
                <a:uFillTx/>
                <a:latin typeface="Aptos"/>
              </a:rPr>
              <a:t>and</a:t>
            </a:r>
            <a:r>
              <a:rPr b="0" i="1" lang="en-US" sz="1800" spc="-1" strike="noStrike">
                <a:solidFill>
                  <a:schemeClr val="dk1"/>
                </a:solidFill>
                <a:latin typeface="Aptos"/>
              </a:rPr>
              <a:t> 300 iterations of Lee &amp; Seung's </a:t>
            </a:r>
            <a:r>
              <a:rPr b="1" i="1" lang="en-US" sz="1800" spc="-1" strike="noStrike">
                <a:solidFill>
                  <a:schemeClr val="dk1"/>
                </a:solidFill>
                <a:latin typeface="Aptos"/>
              </a:rPr>
              <a:t>[2] </a:t>
            </a:r>
            <a:r>
              <a:rPr b="0" i="1" lang="en-US" sz="1800" spc="-1" strike="noStrike">
                <a:solidFill>
                  <a:schemeClr val="dk1"/>
                </a:solidFill>
                <a:latin typeface="Aptos"/>
              </a:rPr>
              <a:t>multiplicative update​ rule for finding activations within H converge at the same place!!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8765640" y="3994920"/>
            <a:ext cx="32950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Acc = 0.665,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ChromaAcc = 0.686 / 0.687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11"/>
          <p:cNvSpPr/>
          <p:nvPr/>
        </p:nvSpPr>
        <p:spPr>
          <a:xfrm>
            <a:off x="10188360" y="3523320"/>
            <a:ext cx="45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...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pic>
        <p:nvPicPr>
          <p:cNvPr id="130" name="Picture 4" descr=""/>
          <p:cNvPicPr/>
          <p:nvPr/>
        </p:nvPicPr>
        <p:blipFill>
          <a:blip r:embed="rId1">
            <a:alphaModFix amt="7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5000" sat="125000"/>
                    </a14:imgEffect>
                  </a14:imgLayer>
                </a14:imgProps>
              </a:ext>
            </a:extLst>
          </a:blip>
          <a:srcRect l="0" t="0" r="13334" b="0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833360" y="4446000"/>
            <a:ext cx="7184160" cy="17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ffffff"/>
                </a:solidFill>
                <a:latin typeface="Aptos Display"/>
              </a:rPr>
              <a:t>Chordal / Harmonic Agreement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2728800" y="2889360"/>
            <a:ext cx="64548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noAutofit/>
          </a:bodyPr>
          <a:p>
            <a:pPr algn="r" defTabSz="914400">
              <a:lnSpc>
                <a:spcPct val="9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___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5929200" y="6242040"/>
            <a:ext cx="608832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noAutofit/>
          </a:bodyPr>
          <a:p>
            <a:pPr algn="r" defTabSz="914400">
              <a:lnSpc>
                <a:spcPct val="90000"/>
              </a:lnSpc>
              <a:spcBef>
                <a:spcPts val="1001"/>
              </a:spcBef>
            </a:pPr>
            <a:r>
              <a:rPr b="0" lang="en-US" sz="2400" spc="-1" strike="noStrike">
                <a:solidFill>
                  <a:srgbClr val="ffffff"/>
                </a:solidFill>
                <a:latin typeface="Aptos"/>
              </a:rPr>
              <a:t>Task Domain Level Evaluation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5"/>
          <p:cNvSpPr/>
          <p:nvPr/>
        </p:nvSpPr>
        <p:spPr>
          <a:xfrm>
            <a:off x="685800" y="2889360"/>
            <a:ext cx="2187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noAutofit/>
          </a:bodyPr>
          <a:p>
            <a:pPr algn="r" defTabSz="914400">
              <a:lnSpc>
                <a:spcPct val="90000"/>
              </a:lnSpc>
              <a:spcBef>
                <a:spcPts val="1001"/>
              </a:spcBef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exact (acc.) @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"/>
          <p:cNvSpPr/>
          <p:nvPr/>
        </p:nvSpPr>
        <p:spPr>
          <a:xfrm>
            <a:off x="457200" y="228600"/>
            <a:ext cx="1127736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1" lang="en-US" sz="4000" spc="-1" strike="noStrike">
                <a:solidFill>
                  <a:schemeClr val="dk1"/>
                </a:solidFill>
                <a:latin typeface="Aptos"/>
              </a:rPr>
              <a:t>What We Ruled Out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ubtitle"/>
          <p:cNvSpPr/>
          <p:nvPr/>
        </p:nvSpPr>
        <p:spPr>
          <a:xfrm>
            <a:off x="457200" y="942120"/>
            <a:ext cx="1002168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 fontScale="87222" lnSpcReduction="10000"/>
          </a:bodyPr>
          <a:p>
            <a:pPr defTabSz="914400">
              <a:lnSpc>
                <a:spcPct val="100000"/>
              </a:lnSpc>
            </a:pPr>
            <a:r>
              <a:rPr b="0" i="1" lang="en-US" sz="2000" spc="-1" strike="noStrike">
                <a:solidFill>
                  <a:schemeClr val="lt2">
                    <a:lumMod val="25000"/>
                  </a:schemeClr>
                </a:solidFill>
                <a:latin typeface="Aptos"/>
              </a:rPr>
              <a:t>Falsified hypotheses, kept as findings, each tested and rejected by the benchmark and testing processes.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Body"/>
          <p:cNvSpPr/>
          <p:nvPr/>
        </p:nvSpPr>
        <p:spPr>
          <a:xfrm>
            <a:off x="275760" y="1504080"/>
            <a:ext cx="11640240" cy="47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343080" indent="-343080" defTabSz="914400">
              <a:lnSpc>
                <a:spcPct val="100000"/>
              </a:lnSpc>
              <a:spcAft>
                <a:spcPts val="1301"/>
              </a:spcAft>
              <a:buClr>
                <a:srgbClr val="e97132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e97132"/>
                </a:solidFill>
                <a:latin typeface="Aptos"/>
              </a:rPr>
              <a:t>Measured envelopes</a:t>
            </a: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: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 calibrating template shapes from real recordings made accuracy </a:t>
            </a:r>
            <a:r>
              <a:rPr b="1" lang="en-US" sz="2000" spc="-1" strike="noStrike">
                <a:solidFill>
                  <a:schemeClr val="dk1"/>
                </a:solidFill>
                <a:latin typeface="Aptos"/>
              </a:rPr>
              <a:t>worse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: frame 0.618 → 0.584, chord 0.564 → 0.502. The generic physics-based template generalized better than the fitted one.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301"/>
              </a:spcAft>
              <a:buClr>
                <a:srgbClr val="e97132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e97132"/>
                </a:solidFill>
                <a:latin typeface="Aptos"/>
              </a:rPr>
              <a:t>Under-convergence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: 300 NMF iterations gave output identical to 60. The problem is convex in H, so more iterations cannot and will not change the answer; there's only one right answer to converge 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301"/>
              </a:spcAft>
              <a:buClr>
                <a:srgbClr val="e97132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e97132"/>
                </a:solidFill>
                <a:latin typeface="Aptos"/>
              </a:rPr>
              <a:t>Median temporal smoothing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: erases quieter voices when they're outnumbered; the mean actually carries it. Mean-of-5 adopted (+0.4).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301"/>
              </a:spcAft>
              <a:buClr>
                <a:srgbClr val="e97132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e97132"/>
                </a:solidFill>
                <a:latin typeface="Aptos"/>
              </a:rPr>
              <a:t>The “quartet collapse”</a:t>
            </a: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: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 ultimately traced not to the algorithm, but to a file-selection error: Bach10’s saxophone stem files are natively named “saxphone.wav” (whoops!).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301"/>
              </a:spcAft>
              <a:buClr>
                <a:srgbClr val="e97132"/>
              </a:buClr>
              <a:buFont typeface="Arial"/>
              <a:buChar char="•"/>
            </a:pPr>
            <a:r>
              <a:rPr b="1" lang="en-US" sz="2000" spc="-1" strike="noStrike">
                <a:solidFill>
                  <a:srgbClr val="e97132"/>
                </a:solidFill>
                <a:latin typeface="Aptos"/>
              </a:rPr>
              <a:t>A CQT octave-error advantage over the CNN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: none found; neither system produces noticeably more octave-errors than the other. The gap is about the same </a:t>
            </a:r>
            <a:r>
              <a:rPr b="0" lang="en-US" sz="2000" spc="-1" strike="noStrike">
                <a:solidFill>
                  <a:schemeClr val="dk1"/>
                </a:solidFill>
                <a:latin typeface="Aptos"/>
                <a:ea typeface="Aptos"/>
              </a:rPr>
              <a:t>≈0.02 for both. 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9" name="ProjectName"/>
          <p:cNvSpPr/>
          <p:nvPr/>
        </p:nvSpPr>
        <p:spPr>
          <a:xfrm>
            <a:off x="838080" y="669960"/>
            <a:ext cx="45086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algn="r" defTabSz="914400">
              <a:lnSpc>
                <a:spcPct val="90000"/>
              </a:lnSpc>
              <a:spcAft>
                <a:spcPts val="601"/>
              </a:spcAft>
            </a:pPr>
            <a:r>
              <a:rPr b="1" lang="en-US" sz="4400" spc="-1" strike="noStrike">
                <a:solidFill>
                  <a:schemeClr val="lt1"/>
                </a:solidFill>
                <a:latin typeface="Aptos Display"/>
              </a:rPr>
              <a:t>P.I.T.C.H. v0.1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0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126000" y="2026080"/>
            <a:ext cx="5221440" cy="360"/>
          </a:xfrm>
          <a:prstGeom prst="straightConnector1">
            <a:avLst/>
          </a:prstGeom>
          <a:ln>
            <a:solidFill>
              <a:srgbClr val="e97132"/>
            </a:solidFill>
          </a:ln>
        </p:spPr>
      </p:cxnSp>
      <p:sp>
        <p:nvSpPr>
          <p:cNvPr id="141" name="Expansion"/>
          <p:cNvSpPr/>
          <p:nvPr/>
        </p:nvSpPr>
        <p:spPr>
          <a:xfrm>
            <a:off x="1392840" y="2399040"/>
            <a:ext cx="9406440" cy="35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i="1" lang="en-US" sz="2000" spc="-1" strike="noStrike">
                <a:solidFill>
                  <a:schemeClr val="lt1"/>
                </a:solidFill>
                <a:latin typeface="Aptos"/>
              </a:rPr>
              <a:t> </a:t>
            </a:r>
            <a:r>
              <a:rPr b="0" i="1" lang="en-US" sz="2000" spc="-1" strike="noStrike">
                <a:solidFill>
                  <a:schemeClr val="lt1"/>
                </a:solidFill>
                <a:latin typeface="Aptos"/>
              </a:rPr>
              <a:t>Polyphonic Interpretation Tool for Chords and Harmony, version 0.1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6360" y="115200"/>
            <a:ext cx="11939400" cy="6627240"/>
          </a:xfrm>
          <a:prstGeom prst="rect">
            <a:avLst/>
          </a:prstGeom>
          <a:noFill/>
          <a:ln w="12700">
            <a:solidFill>
              <a:srgbClr val="e971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43" name="Oneliner"/>
          <p:cNvSpPr/>
          <p:nvPr/>
        </p:nvSpPr>
        <p:spPr>
          <a:xfrm>
            <a:off x="1600200" y="2900160"/>
            <a:ext cx="899136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b="0" lang="en-US" sz="2000" spc="-1" strike="noStrike">
                <a:solidFill>
                  <a:srgbClr val="e8e8e8"/>
                </a:solidFill>
                <a:latin typeface="Aptos"/>
              </a:rPr>
              <a:t>real-time chord and harmonic labeling plus interpretation </a:t>
            </a:r>
            <a:r>
              <a:rPr b="1" lang="en-US" sz="2000" spc="-1" strike="noStrike">
                <a:solidFill>
                  <a:srgbClr val="e8e8e8"/>
                </a:solidFill>
                <a:latin typeface="Aptos"/>
              </a:rPr>
              <a:t>·</a:t>
            </a:r>
            <a:r>
              <a:rPr b="0" lang="en-US" sz="2000" spc="-1" strike="noStrike">
                <a:solidFill>
                  <a:srgbClr val="e8e8e8"/>
                </a:solidFill>
                <a:latin typeface="Aptos"/>
              </a:rPr>
              <a:t> modeling the physics of sound before layering on machine learning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AskMe"/>
          <p:cNvSpPr/>
          <p:nvPr/>
        </p:nvSpPr>
        <p:spPr>
          <a:xfrm>
            <a:off x="1600200" y="4050000"/>
            <a:ext cx="8991360" cy="14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ctr" defTabSz="914400">
              <a:lnSpc>
                <a:spcPct val="100000"/>
              </a:lnSpc>
              <a:spcAft>
                <a:spcPts val="799"/>
              </a:spcAft>
            </a:pPr>
            <a:r>
              <a:rPr b="1" lang="en-US" sz="1800" spc="-1" strike="noStrike">
                <a:solidFill>
                  <a:schemeClr val="accent2"/>
                </a:solidFill>
                <a:latin typeface="Aptos"/>
              </a:rPr>
              <a:t>Ask me about: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e8e8e8"/>
                </a:solidFill>
                <a:latin typeface="Aptos"/>
              </a:rPr>
              <a:t>why interpretability beats a black box  ·  the violin bottleneck  ·  how NMF explains a chord  ·  next steps for the project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Affil"/>
          <p:cNvSpPr/>
          <p:nvPr/>
        </p:nvSpPr>
        <p:spPr>
          <a:xfrm>
            <a:off x="609480" y="6340320"/>
            <a:ext cx="109724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3333"/>
          </a:bodyPr>
          <a:p>
            <a:pPr algn="ctr" defTabSz="914400">
              <a:lnSpc>
                <a:spcPct val="90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a6a6a6"/>
                </a:solidFill>
                <a:latin typeface="Aptos"/>
              </a:rPr>
              <a:t>Joseph Lincoln  ·  Dr. Mangolika Bhattacharya  ·  Dr. Roy Magnuson  ·  Illinois State University Schools of Information Technology and Music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2026-07-27T01:21:05Z</dcterms:created>
  <dc:creator/>
  <dc:description/>
  <dc:language>en-US</dc:language>
  <cp:lastModifiedBy/>
  <dcterms:modified xsi:type="dcterms:W3CDTF">2026-07-30T09:21:43Z</dcterms:modified>
  <cp:revision>596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9</vt:i4>
  </property>
</Properties>
</file>